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0"/>
            <a:ext cx="2560320" cy="2560320"/>
          </a:xfrm>
          <a:prstGeom prst="ellipse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Nairobi  ·  Department of Computer Science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Campus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&amp; Found System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2801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Karimi Dan Thiong'o  ·  SCS3/2362/2024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Lawrence Muchemi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29260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Broken Today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</a:t>
            </a:r>
            <a:r>
              <a:rPr lang="en-US" sz="1300" dirty="0" smtClean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</a:t>
            </a:r>
            <a:r>
              <a:rPr lang="en-US" sz="1300" dirty="0" err="1" smtClean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instituitions</a:t>
            </a:r>
            <a:r>
              <a:rPr lang="en-US" sz="1300" dirty="0" smtClean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lost </a:t>
            </a: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found is handled through WhatsApp groups, notice boards, and word-of-mouth — with no verification, no privacy, and no incentive for finders.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194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 Verification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312724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claim a found item — no proof required, no admin check.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194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Exposed Early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312724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is shared publicly before either party has committed to the exchange.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0574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Finder Incentive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312724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 have zero structured reward, so items are often not returned through official channels.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6C63FF">
              <a:alpha val="22000"/>
            </a:srgbClr>
          </a:solidFill>
          <a:ln w="12700">
            <a:solidFill>
              <a:srgbClr val="6C63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Achieves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62456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325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digital platform for lost &amp; found reporting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20824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98424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Admin-mediated ownership claim &amp; verification workflow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79192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6426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OTP handshake for physical item handoff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337560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30098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Escrow-based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(mock flow fully working)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995928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95935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with claim queues, escrow ledger &amp; user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29260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MERN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28600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collections: Users, Items, Claims, 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78608" y="228600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middleware, role-based route protection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37160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27448" y="228600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React Router, Axios, component architecture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37160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76288" y="228600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controllers, Promise.all atomic updates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used: Tailwind CSS  ·  bcryptjs  ·  jsonwebtoken  ·  Axios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3383280"/>
          </a:xfrm>
          <a:prstGeom prst="rect">
            <a:avLst/>
          </a:prstGeom>
          <a:solidFill>
            <a:srgbClr val="6C63FF">
              <a:alpha val="90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1673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468880"/>
            <a:ext cx="2286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4A42D0">
              <a:alpha val="90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80160"/>
            <a:ext cx="2651760" cy="411480"/>
          </a:xfrm>
          <a:prstGeom prst="rect">
            <a:avLst/>
          </a:prstGeom>
          <a:solidFill>
            <a:srgbClr val="4A42D0"/>
          </a:solidFill>
          <a:ln w="12700">
            <a:solidFill>
              <a:srgbClr val="4A42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1673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Admin-check middleware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route groups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2468880"/>
            <a:ext cx="2286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280160"/>
            <a:ext cx="2651760" cy="3383280"/>
          </a:xfrm>
          <a:prstGeom prst="rect">
            <a:avLst/>
          </a:prstGeom>
          <a:solidFill>
            <a:srgbClr val="3A3870">
              <a:alpha val="90000"/>
            </a:srgbClr>
          </a:solidFill>
          <a:ln w="12700">
            <a:solidFill>
              <a:srgbClr val="6C63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2651760" cy="411480"/>
          </a:xfrm>
          <a:prstGeom prst="rect">
            <a:avLst/>
          </a:prstGeom>
          <a:solidFill>
            <a:srgbClr val="3A3870"/>
          </a:solidFill>
          <a:ln w="12700">
            <a:solidFill>
              <a:srgbClr val="3A38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1673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• Transactions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29260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 Lifecycle &amp; OTP Handshake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914400" cy="914400"/>
          </a:xfrm>
          <a:prstGeom prst="ellipse">
            <a:avLst/>
          </a:prstGeom>
          <a:solidFill>
            <a:srgbClr val="8E8CB0"/>
          </a:solidFill>
          <a:ln w="12700">
            <a:solidFill>
              <a:srgbClr val="8E8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1600200"/>
            <a:ext cx="713232" cy="54864"/>
          </a:xfrm>
          <a:prstGeom prst="rect">
            <a:avLst/>
          </a:prstGeom>
          <a:solidFill>
            <a:srgbClr val="4A42D0"/>
          </a:solidFill>
          <a:ln w="12700">
            <a:solidFill>
              <a:srgbClr val="4A42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1170432"/>
            <a:ext cx="914400" cy="9144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1704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9112" y="202768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44952" y="1600200"/>
            <a:ext cx="713232" cy="54864"/>
          </a:xfrm>
          <a:prstGeom prst="rect">
            <a:avLst/>
          </a:prstGeom>
          <a:solidFill>
            <a:srgbClr val="4A42D0"/>
          </a:solidFill>
          <a:ln w="12700">
            <a:solidFill>
              <a:srgbClr val="4A4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1170432"/>
            <a:ext cx="914400" cy="914400"/>
          </a:xfrm>
          <a:prstGeom prst="ellipse">
            <a:avLst/>
          </a:prstGeom>
          <a:solidFill>
            <a:srgbClr val="4A42D0"/>
          </a:solidFill>
          <a:ln w="12700">
            <a:solidFill>
              <a:srgbClr val="4A42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11704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66744" y="197967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600200"/>
            <a:ext cx="713232" cy="54864"/>
          </a:xfrm>
          <a:prstGeom prst="rect">
            <a:avLst/>
          </a:prstGeom>
          <a:solidFill>
            <a:srgbClr val="4A42D0"/>
          </a:solidFill>
          <a:ln w="12700">
            <a:solidFill>
              <a:srgbClr val="4A4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5816" y="1170432"/>
            <a:ext cx="914400" cy="9144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1704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19949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0216" y="1600200"/>
            <a:ext cx="713232" cy="54864"/>
          </a:xfrm>
          <a:prstGeom prst="rect">
            <a:avLst/>
          </a:prstGeom>
          <a:solidFill>
            <a:srgbClr val="4A42D0"/>
          </a:solidFill>
          <a:ln w="12700">
            <a:solidFill>
              <a:srgbClr val="4A4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13448" y="1170432"/>
            <a:ext cx="914400" cy="9144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11704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22008" y="197967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6992" y="3090672"/>
            <a:ext cx="8253984" cy="1659636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90672"/>
            <a:ext cx="79818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 b="1" dirty="0" smtClean="0">
                <a:solidFill>
                  <a:srgbClr val="4A4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OTP Handshake Works After Owner submits claim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927" y="3401568"/>
            <a:ext cx="78911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Admin approves claim → escrow transaction created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927" y="3648456"/>
            <a:ext cx="78911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Owner pays reward → mock STK Push → 4-digit OTP generated, shown only to Owner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927" y="3895344"/>
            <a:ext cx="78911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Both parties' phone numbers revealed to each other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927" y="4142232"/>
            <a:ext cx="78911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They meet in person → Owner inspects item → verbally shares OTP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927" y="4389120"/>
            <a:ext cx="78911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Finder enters OTP → backend verifies → items marked resolved → mock B2C payout released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316992" y="2479548"/>
            <a:ext cx="8253984" cy="579120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679804" y="2592324"/>
            <a:ext cx="78911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smtClean="0"/>
              <a:t>Finder reports item</a:t>
            </a:r>
            <a:r>
              <a:rPr lang="en-US" sz="10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000" dirty="0" smtClean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finds item in feed </a:t>
            </a:r>
            <a:r>
              <a:rPr lang="en-US" sz="10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000" dirty="0" smtClean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submits claim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Revealed — and When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29844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escrow is confirmed (escrowed status)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832104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5681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9568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95681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 claim reviewer (admin) — never public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832104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6151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61518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admin for side-by-side verification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73552"/>
            <a:ext cx="832104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7355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27355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Owner only — stripped from Finder's API response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319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Photo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39319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accessible to admin during claim 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is at the API level — not just the UI — so it cannot be bypassed by client-side manipulation.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29260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&amp; Cloud Deployment</a:t>
            </a:r>
          </a:p>
        </p:txBody>
      </p:sp>
      <p:sp>
        <p:nvSpPr>
          <p:cNvPr id="17" name="Shape 15"/>
          <p:cNvSpPr/>
          <p:nvPr/>
        </p:nvSpPr>
        <p:spPr>
          <a:xfrm>
            <a:off x="490728" y="1371600"/>
            <a:ext cx="1496568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728" y="1371600"/>
            <a:ext cx="1496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87296" y="149961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100" dirty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latin typeface="Georgia" panose="02040502050405020303" pitchFamily="18" charset="0"/>
              </a:rPr>
              <a:t>JSON </a:t>
            </a:r>
            <a:r>
              <a:rPr lang="en-US" sz="1400" dirty="0">
                <a:latin typeface="Georgia" panose="02040502050405020303" pitchFamily="18" charset="0"/>
              </a:rPr>
              <a:t>Web Tokens (JWT) for secure route protection and state management.</a:t>
            </a:r>
          </a:p>
        </p:txBody>
      </p:sp>
      <p:sp>
        <p:nvSpPr>
          <p:cNvPr id="20" name="Shape 18"/>
          <p:cNvSpPr/>
          <p:nvPr/>
        </p:nvSpPr>
        <p:spPr>
          <a:xfrm>
            <a:off x="490728" y="1901952"/>
            <a:ext cx="1496568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536" y="1914144"/>
            <a:ext cx="1508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99488" y="19141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smtClean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100" dirty="0" smtClean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 err="1">
                <a:latin typeface="Georgia" panose="02040502050405020303" pitchFamily="18" charset="0"/>
              </a:rPr>
              <a:t>Bcrypt</a:t>
            </a:r>
            <a:r>
              <a:rPr lang="en-US" sz="1400" dirty="0">
                <a:latin typeface="Georgia" panose="02040502050405020303" pitchFamily="18" charset="0"/>
              </a:rPr>
              <a:t> password hashing</a:t>
            </a:r>
          </a:p>
        </p:txBody>
      </p:sp>
      <p:sp>
        <p:nvSpPr>
          <p:cNvPr id="23" name="Shape 21"/>
          <p:cNvSpPr/>
          <p:nvPr/>
        </p:nvSpPr>
        <p:spPr>
          <a:xfrm>
            <a:off x="490728" y="2432304"/>
            <a:ext cx="1496568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728" y="2432304"/>
            <a:ext cx="1520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243230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387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latin typeface="Georgia" panose="02040502050405020303" pitchFamily="18" charset="0"/>
              </a:rPr>
              <a:t>Hosted on </a:t>
            </a:r>
            <a:r>
              <a:rPr lang="en-US" sz="1400" b="1" dirty="0" err="1">
                <a:latin typeface="Georgia" panose="02040502050405020303" pitchFamily="18" charset="0"/>
              </a:rPr>
              <a:t>Vercel</a:t>
            </a:r>
            <a:r>
              <a:rPr lang="en-US" sz="1400" dirty="0">
                <a:latin typeface="Georgia" panose="02040502050405020303" pitchFamily="18" charset="0"/>
              </a:rPr>
              <a:t> with continuous deployment pipelines.</a:t>
            </a:r>
          </a:p>
        </p:txBody>
      </p:sp>
      <p:sp>
        <p:nvSpPr>
          <p:cNvPr id="26" name="Shape 24"/>
          <p:cNvSpPr/>
          <p:nvPr/>
        </p:nvSpPr>
        <p:spPr>
          <a:xfrm>
            <a:off x="490728" y="2926080"/>
            <a:ext cx="1496568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728" y="2926080"/>
            <a:ext cx="1496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11680" y="29260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solidFill>
                  <a:srgbClr val="3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400" dirty="0"/>
              <a:t> </a:t>
            </a:r>
            <a:r>
              <a:rPr lang="en-US" sz="1400" dirty="0">
                <a:latin typeface="Georgia" panose="02040502050405020303" pitchFamily="18" charset="0"/>
              </a:rPr>
              <a:t>Hosted on </a:t>
            </a:r>
            <a:r>
              <a:rPr lang="en-US" sz="1400" b="1" dirty="0">
                <a:latin typeface="Georgia" panose="02040502050405020303" pitchFamily="18" charset="0"/>
              </a:rPr>
              <a:t>Render</a:t>
            </a:r>
            <a:r>
              <a:rPr lang="en-US" sz="1400" dirty="0">
                <a:latin typeface="Georgia" panose="02040502050405020303" pitchFamily="18" charset="0"/>
              </a:rPr>
              <a:t>, seamlessly integrated with GitHub for automated builds</a:t>
            </a:r>
            <a:r>
              <a:rPr lang="en-US" sz="1400" dirty="0"/>
              <a:t>.</a:t>
            </a:r>
          </a:p>
        </p:txBody>
      </p:sp>
      <p:sp>
        <p:nvSpPr>
          <p:cNvPr id="30" name="Text 28"/>
          <p:cNvSpPr/>
          <p:nvPr/>
        </p:nvSpPr>
        <p:spPr>
          <a:xfrm>
            <a:off x="490728" y="33101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EF476F">
              <a:alpha val="12000"/>
            </a:srgbClr>
          </a:solidFill>
          <a:ln w="12700">
            <a:solidFill>
              <a:srgbClr val="EF476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4A42D0"/>
          </a:solidFill>
          <a:ln w="12700">
            <a:solidFill>
              <a:srgbClr val="4A4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Missing &amp; Where We Go Next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M-Pesa Daraja not deployed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(Safaricom sandbox restrictions)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real-time updates — manual refresh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email/SMS notifications for status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36576" cy="34747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F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Activate M-Pesa STK Push &amp; B2C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F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Socket.IO for real-time dashboard updates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F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>
                <a:solidFill>
                  <a:srgbClr val="B3F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</a:t>
            </a:r>
            <a:r>
              <a:rPr lang="en-US" sz="1100" smtClean="0">
                <a:solidFill>
                  <a:srgbClr val="B3F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</a:t>
            </a:r>
            <a:r>
              <a:rPr lang="en-US" sz="1100" dirty="0">
                <a:solidFill>
                  <a:srgbClr val="B3F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9319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F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as PWA + add item-matching algorithm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CB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657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Delivered a fully functional, deployed MERN stack solution solving campus item recovery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756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07568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mechanisms (escrow, OTP, staged disclosure) adapted for campus 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507" y="27294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26903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application of CS concepts: full-stack, DB, security, APIs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·  Karimi Dan Thiong'o  ·  SCS3/2362/2024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682</Words>
  <Application>Microsoft Office PowerPoint</Application>
  <PresentationFormat>On-screen Show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Lost &amp; Found System</dc:title>
  <dc:subject>PptxGenJS Presentation</dc:subject>
  <dc:creator>Karimi Dan Thiong'o</dc:creator>
  <cp:lastModifiedBy>Hp</cp:lastModifiedBy>
  <cp:revision>11</cp:revision>
  <dcterms:created xsi:type="dcterms:W3CDTF">2026-06-04T17:24:38Z</dcterms:created>
  <dcterms:modified xsi:type="dcterms:W3CDTF">2026-06-05T06:03:20Z</dcterms:modified>
</cp:coreProperties>
</file>